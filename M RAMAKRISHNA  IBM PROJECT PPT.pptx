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6" r:id="rId14"/>
    <p:sldId id="286" r:id="rId15"/>
    <p:sldId id="287" r:id="rId16"/>
    <p:sldId id="280" r:id="rId17"/>
    <p:sldId id="288" r:id="rId18"/>
    <p:sldId id="289" r:id="rId19"/>
    <p:sldId id="295"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053747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259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677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673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5606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ramakrishna35ece-ctrl/Intelligent-Crop-Marketing-Assistant.g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170183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smtClean="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err="1" smtClean="0"/>
                        <a:t>Markonda</a:t>
                      </a:r>
                      <a:r>
                        <a:rPr lang="en-US" sz="2000" dirty="0" smtClean="0"/>
                        <a:t> Ramakrishna</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smtClean="0"/>
                        <a:t>ramakrishna35.ece@gmail.com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smtClean="0"/>
                        <a:t>9849502425</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a:t>
            </a:r>
            <a:r>
              <a:rPr lang="en-US" sz="2400" b="1" dirty="0"/>
              <a:t>– </a:t>
            </a:r>
            <a:r>
              <a:rPr lang="en-US" sz="2800" b="1" dirty="0" smtClean="0"/>
              <a:t>Agriculture</a:t>
            </a:r>
            <a:r>
              <a:rPr lang="en-US" sz="2400" b="1" dirty="0" smtClean="0">
                <a:highlight>
                  <a:srgbClr val="FFFF00"/>
                </a:highlight>
              </a:rPr>
              <a:t> </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a:t>
            </a:r>
            <a:r>
              <a:rPr lang="en-US" sz="2400" b="1" dirty="0"/>
              <a:t>– </a:t>
            </a:r>
            <a:r>
              <a:rPr lang="en-US" sz="2800" b="1" dirty="0" smtClean="0">
                <a:solidFill>
                  <a:schemeClr val="tx2">
                    <a:lumMod val="10000"/>
                  </a:schemeClr>
                </a:solidFill>
              </a:rPr>
              <a:t>Intelligent </a:t>
            </a:r>
            <a:r>
              <a:rPr lang="en-US" sz="2800" b="1" dirty="0">
                <a:solidFill>
                  <a:schemeClr val="tx2">
                    <a:lumMod val="10000"/>
                  </a:schemeClr>
                </a:solidFill>
              </a:rPr>
              <a:t>Crop Marketing </a:t>
            </a:r>
            <a:r>
              <a:rPr lang="en-US" sz="2800" b="1" dirty="0" smtClean="0">
                <a:solidFill>
                  <a:schemeClr val="tx2">
                    <a:lumMod val="10000"/>
                  </a:schemeClr>
                </a:solidFill>
              </a:rPr>
              <a:t>Assistant</a:t>
            </a:r>
            <a:endParaRPr lang="en-IN" sz="2800" b="1" dirty="0">
              <a:highlight>
                <a:srgbClr val="FFFF00"/>
              </a:highligh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r>
              <a:rPr lang="en-US" sz="2000" dirty="0"/>
              <a:t/>
            </a: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0108" y="3560617"/>
            <a:ext cx="973888" cy="11949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016758"/>
          </a:xfrm>
          <a:prstGeom prst="rect">
            <a:avLst/>
          </a:prstGeom>
          <a:noFill/>
        </p:spPr>
        <p:txBody>
          <a:bodyPr wrap="square" rtlCol="0">
            <a:spAutoFit/>
          </a:bodyPr>
          <a:lstStyle/>
          <a:p>
            <a:pPr algn="just"/>
            <a:r>
              <a:rPr lang="en-US" sz="1800" b="1" dirty="0" smtClean="0"/>
              <a:t>The Challenge</a:t>
            </a:r>
          </a:p>
          <a:p>
            <a:pPr algn="just"/>
            <a:endParaRPr lang="en-US" sz="1800" b="1" dirty="0"/>
          </a:p>
          <a:p>
            <a:pPr algn="just"/>
            <a:r>
              <a:rPr lang="en-US" sz="1800" dirty="0"/>
              <a:t>Farmers often sell their crops without access to real-time market information, resulting in lower profits and poor selling decisions. Fluctuating market prices, transportation costs, demand trends, and government procurement policies make it difficult to identify the best market and selling time. An AI-powered solution is needed to provide personalized, data-driven recommendations that help farmers maximize their income</a:t>
            </a:r>
            <a:r>
              <a:rPr lang="en-US" sz="1800" dirty="0" smtClean="0"/>
              <a:t>.</a:t>
            </a:r>
          </a:p>
          <a:p>
            <a:pPr algn="just"/>
            <a:endParaRPr lang="en-US" sz="1800" dirty="0"/>
          </a:p>
          <a:p>
            <a:pPr algn="just"/>
            <a:r>
              <a:rPr lang="en-US" sz="1800" b="1" dirty="0"/>
              <a:t>The </a:t>
            </a:r>
            <a:r>
              <a:rPr lang="en-US" sz="1800" b="1" dirty="0" smtClean="0"/>
              <a:t>Objective</a:t>
            </a:r>
          </a:p>
          <a:p>
            <a:pPr algn="just"/>
            <a:endParaRPr lang="en-US" sz="1800" b="1" dirty="0"/>
          </a:p>
          <a:p>
            <a:pPr algn="just"/>
            <a:r>
              <a:rPr lang="en-US" sz="1800" dirty="0"/>
              <a:t>Develop </a:t>
            </a:r>
            <a:r>
              <a:rPr lang="en-US" sz="1800" dirty="0" err="1"/>
              <a:t>AgriMarket</a:t>
            </a:r>
            <a:r>
              <a:rPr lang="en-US" sz="1800" dirty="0"/>
              <a:t> AI, an Agentic AI Crop Marketing Assistant using IBM watsonx.ai Granite Models, IBM Bob (</a:t>
            </a:r>
            <a:r>
              <a:rPr lang="en-US" sz="1800" dirty="0" err="1"/>
              <a:t>watsonx</a:t>
            </a:r>
            <a:r>
              <a:rPr lang="en-US" sz="1800" dirty="0"/>
              <a:t> Orchestrate), and IBM Cloud. The solution uses two AI agents: a Market Intelligence Agent to collect real-time crop prices, demand trends, and government schemes, and a Decision Agent to analyze transportation costs, price forecasts, and market conditions to recommend the optimal market, selling time, and pricing strategy. The application delivers transparent insights through an interactive dashboard, enabling farmers to make informed decisions and improve profitability.</a:t>
            </a:r>
          </a:p>
          <a:p>
            <a:pPr fontAlgn="base"/>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a:t>
            </a:r>
            <a:r>
              <a:rPr lang="en-US" sz="2400" b="1" dirty="0" smtClean="0"/>
              <a:t>Statement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447645"/>
          </a:xfrm>
          <a:prstGeom prst="rect">
            <a:avLst/>
          </a:prstGeom>
          <a:noFill/>
        </p:spPr>
        <p:txBody>
          <a:bodyPr wrap="square" rtlCol="0">
            <a:spAutoFit/>
          </a:bodyPr>
          <a:lstStyle/>
          <a:p>
            <a:pPr algn="just"/>
            <a:r>
              <a:rPr lang="en-US" sz="2000" dirty="0" smtClean="0"/>
              <a:t>The </a:t>
            </a:r>
            <a:r>
              <a:rPr lang="en-US" sz="2000" dirty="0"/>
              <a:t>proposed solution is a multi-agent AI-powered Crop Marketing Assistant built using </a:t>
            </a:r>
            <a:r>
              <a:rPr lang="en-US" sz="2000" b="1" dirty="0"/>
              <a:t>IBM Bob (</a:t>
            </a:r>
            <a:r>
              <a:rPr lang="en-US" sz="2000" b="1" dirty="0" err="1"/>
              <a:t>watsonx</a:t>
            </a:r>
            <a:r>
              <a:rPr lang="en-US" sz="2000" b="1" dirty="0"/>
              <a:t> Orchestrate), IBM watsonx.ai, IBM Cloud, and Granite Foundation Models </a:t>
            </a:r>
            <a:r>
              <a:rPr lang="en-US" sz="2000" dirty="0"/>
              <a:t>to help farmers maximize profits through intelligent marketing decisions. The system leverages a Retrieval-Augmented Generation (RAG) pipeline to retrieve real-time crop prices, demand trends, nearby market information, and government procurement schemes from trusted sources.</a:t>
            </a:r>
          </a:p>
          <a:p>
            <a:pPr algn="just"/>
            <a:r>
              <a:rPr lang="en-US" sz="2000" dirty="0"/>
              <a:t>The solution consists of two AI agents:</a:t>
            </a:r>
          </a:p>
          <a:p>
            <a:pPr algn="just"/>
            <a:r>
              <a:rPr lang="en-US" sz="2000" b="1" dirty="0"/>
              <a:t>Market Intelligence Agent </a:t>
            </a:r>
            <a:r>
              <a:rPr lang="en-US" sz="2000" dirty="0"/>
              <a:t>– Retrieves and summarizes live market prices, demand trends, MSP, and nearby market information using RAG. </a:t>
            </a:r>
          </a:p>
          <a:p>
            <a:pPr algn="just"/>
            <a:r>
              <a:rPr lang="en-US" sz="2000" b="1" dirty="0"/>
              <a:t>Decision Agent </a:t>
            </a:r>
            <a:r>
              <a:rPr lang="en-US" sz="2000" dirty="0"/>
              <a:t>– Analyzes transportation costs, price forecasts, and market conditions to recommend the best market, optimal selling time, and pricing strategy. </a:t>
            </a:r>
          </a:p>
          <a:p>
            <a:pPr algn="just"/>
            <a:r>
              <a:rPr lang="en-US" sz="2000" dirty="0"/>
              <a:t>A </a:t>
            </a:r>
            <a:r>
              <a:rPr lang="en-US" sz="2000" dirty="0" err="1"/>
              <a:t>Streamlit</a:t>
            </a:r>
            <a:r>
              <a:rPr lang="en-US" sz="2000" dirty="0"/>
              <a:t>/React dashboard displays market comparisons, price trends, estimated profits, and AI-powered recommendations through interactive charts and cards. IBM Bob orchestrates the agent workflow, while Granite Models provide reasoning and personalized recommendations. The solution enables farmers to make transparent, data-driven marketing decisions, increase profitability, and reduce dependence on intermediaries.</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403443"/>
            <a:ext cx="10607040" cy="830997"/>
          </a:xfrm>
          <a:prstGeom prst="rect">
            <a:avLst/>
          </a:prstGeom>
          <a:noFill/>
        </p:spPr>
        <p:txBody>
          <a:bodyPr wrap="square" rtlCol="0">
            <a:spAutoFit/>
          </a:bodyPr>
          <a:lstStyle/>
          <a:p>
            <a:r>
              <a:rPr lang="en-US" sz="2400" b="1" dirty="0" smtClean="0"/>
              <a:t>Proposed </a:t>
            </a:r>
            <a:r>
              <a:rPr lang="en-US" sz="2400" b="1" dirty="0"/>
              <a:t>Solution: AI-Powered Crop Marketing Assistant</a:t>
            </a:r>
          </a:p>
          <a:p>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r>
              <a:rPr lang="en-US" sz="1800" b="1" dirty="0"/>
              <a:t>IBM </a:t>
            </a:r>
            <a:r>
              <a:rPr lang="en-US" sz="1800" b="1" dirty="0" smtClean="0"/>
              <a:t>Watson </a:t>
            </a:r>
            <a:r>
              <a:rPr lang="en-US" sz="1800" b="1" dirty="0" err="1" smtClean="0"/>
              <a:t>studio,watson</a:t>
            </a:r>
            <a:r>
              <a:rPr lang="en-US" sz="1800" b="1" dirty="0" smtClean="0"/>
              <a:t> </a:t>
            </a:r>
            <a:r>
              <a:rPr lang="en-US" sz="1800" b="1" dirty="0" err="1" smtClean="0"/>
              <a:t>runtime,cloud</a:t>
            </a:r>
            <a:r>
              <a:rPr lang="en-US" sz="1800" b="1" dirty="0" smtClean="0"/>
              <a:t> object </a:t>
            </a:r>
            <a:r>
              <a:rPr lang="en-US" sz="1800" b="1" dirty="0" err="1" smtClean="0"/>
              <a:t>storsge</a:t>
            </a:r>
            <a:r>
              <a:rPr lang="en-US" sz="1800" b="1" dirty="0" smtClean="0"/>
              <a:t> – </a:t>
            </a:r>
            <a:r>
              <a:rPr lang="en-US" sz="1800" dirty="0" smtClean="0"/>
              <a:t>For</a:t>
            </a:r>
            <a:r>
              <a:rPr lang="en-US" sz="1800" b="1" dirty="0" smtClean="0"/>
              <a:t> </a:t>
            </a:r>
            <a:r>
              <a:rPr lang="en-US" sz="1800" dirty="0" smtClean="0"/>
              <a:t>creating new project on IBM </a:t>
            </a:r>
            <a:r>
              <a:rPr lang="en-US" sz="1800" dirty="0" smtClean="0"/>
              <a:t>cloud.</a:t>
            </a:r>
          </a:p>
          <a:p>
            <a:endParaRPr lang="en-US" sz="1800" dirty="0" smtClean="0"/>
          </a:p>
          <a:p>
            <a:pPr marL="285750" indent="-285750">
              <a:buFont typeface="Arial" panose="020B0604020202020204" pitchFamily="34" charset="0"/>
              <a:buChar char="•"/>
            </a:pPr>
            <a:r>
              <a:rPr lang="en-US" sz="1800" b="1" dirty="0" smtClean="0"/>
              <a:t>Prompt engineering- </a:t>
            </a:r>
            <a:r>
              <a:rPr lang="en-US" sz="1800" dirty="0" smtClean="0"/>
              <a:t>for defining the goal of the agent</a:t>
            </a:r>
            <a:endParaRPr lang="en-US" sz="1800" dirty="0"/>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2638" y="1167846"/>
            <a:ext cx="8788770" cy="5210786"/>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0037" y="902898"/>
            <a:ext cx="9809018" cy="581568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8655" y="138545"/>
            <a:ext cx="9416360" cy="523220"/>
          </a:xfrm>
          <a:prstGeom prst="rect">
            <a:avLst/>
          </a:prstGeom>
          <a:noFill/>
        </p:spPr>
        <p:txBody>
          <a:bodyPr wrap="none" rtlCol="0">
            <a:spAutoFit/>
          </a:bodyPr>
          <a:lstStyle/>
          <a:p>
            <a:r>
              <a:rPr lang="en-US" sz="2800" b="1" dirty="0" smtClean="0"/>
              <a:t>User interface for </a:t>
            </a:r>
            <a:r>
              <a:rPr lang="en-US" sz="2800" b="1" dirty="0"/>
              <a:t>Intelligent Crop Marketing Assistant</a:t>
            </a:r>
            <a:endParaRPr lang="en-US" b="1" dirty="0"/>
          </a:p>
        </p:txBody>
      </p:sp>
      <p:pic>
        <p:nvPicPr>
          <p:cNvPr id="4" name="Picture 3"/>
          <p:cNvPicPr/>
          <p:nvPr/>
        </p:nvPicPr>
        <p:blipFill>
          <a:blip r:embed="rId2"/>
          <a:srcRect/>
          <a:stretch>
            <a:fillRect/>
          </a:stretch>
        </p:blipFill>
        <p:spPr bwMode="auto">
          <a:xfrm>
            <a:off x="1767841" y="879566"/>
            <a:ext cx="9030788" cy="5172891"/>
          </a:xfrm>
          <a:prstGeom prst="rect">
            <a:avLst/>
          </a:prstGeom>
          <a:noFill/>
          <a:ln w="9525">
            <a:noFill/>
            <a:miter lim="800000"/>
            <a:headEnd/>
            <a:tailEnd/>
          </a:ln>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7581174" cy="448508"/>
          </a:xfrm>
          <a:prstGeom prst="rect">
            <a:avLst/>
          </a:prstGeom>
          <a:noFill/>
          <a:ln>
            <a:noFill/>
          </a:ln>
        </p:spPr>
        <p:txBody>
          <a:bodyPr spcFirstLastPara="1" wrap="square" lIns="0" tIns="0" rIns="0" bIns="0" anchor="t" anchorCtr="0">
            <a:noAutofit/>
          </a:bodyPr>
          <a:lstStyle/>
          <a:p>
            <a:r>
              <a:rPr lang="en-US" sz="2400" b="1" dirty="0" smtClean="0">
                <a:solidFill>
                  <a:schemeClr val="dk1"/>
                </a:solidFill>
                <a:latin typeface="Calibri"/>
                <a:ea typeface="Calibri"/>
                <a:cs typeface="Calibri"/>
                <a:sym typeface="Calibri"/>
              </a:rPr>
              <a:t>User prompt for </a:t>
            </a:r>
            <a:r>
              <a:rPr lang="en-US" sz="2400" b="1" dirty="0"/>
              <a:t>Intelligent Crop Marketing Assistant</a:t>
            </a:r>
          </a:p>
          <a:p>
            <a:pPr lvl="0"/>
            <a:r>
              <a:rPr lang="en-US" sz="2400" b="1" dirty="0" smtClean="0">
                <a:solidFill>
                  <a:schemeClr val="dk1"/>
                </a:solidFill>
                <a:latin typeface="Calibri"/>
                <a:ea typeface="Calibri"/>
                <a:cs typeface="Calibri"/>
                <a:sym typeface="Calibri"/>
              </a:rPr>
              <a:t>  </a:t>
            </a:r>
            <a:endParaRPr lang="en-US" sz="2400" dirty="0"/>
          </a:p>
        </p:txBody>
      </p:sp>
      <p:pic>
        <p:nvPicPr>
          <p:cNvPr id="4" name="Picture 3"/>
          <p:cNvPicPr/>
          <p:nvPr/>
        </p:nvPicPr>
        <p:blipFill>
          <a:blip r:embed="rId3"/>
          <a:srcRect/>
          <a:stretch>
            <a:fillRect/>
          </a:stretch>
        </p:blipFill>
        <p:spPr bwMode="auto">
          <a:xfrm>
            <a:off x="1776549" y="1018904"/>
            <a:ext cx="9117874" cy="529481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smtClean="0"/>
              <a:t>Response</a:t>
            </a:r>
            <a:endParaRPr lang="en-IN" sz="3200" b="1" dirty="0"/>
          </a:p>
        </p:txBody>
      </p:sp>
      <p:pic>
        <p:nvPicPr>
          <p:cNvPr id="3" name="Picture 2"/>
          <p:cNvPicPr/>
          <p:nvPr/>
        </p:nvPicPr>
        <p:blipFill>
          <a:blip r:embed="rId3"/>
          <a:srcRect/>
          <a:stretch>
            <a:fillRect/>
          </a:stretch>
        </p:blipFill>
        <p:spPr bwMode="auto">
          <a:xfrm>
            <a:off x="1358537" y="984069"/>
            <a:ext cx="9622972" cy="438330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 xmlns:a16="http://schemas.microsoft.com/office/drawing/2014/main" id="{B1A56154-AEB9-E74F-A0DA-07CDBDC5B6DA}"/>
              </a:ext>
            </a:extLst>
          </p:cNvPr>
          <p:cNvPicPr>
            <a:picLocks noChangeAspect="1"/>
          </p:cNvPicPr>
          <p:nvPr/>
        </p:nvPicPr>
        <p:blipFill>
          <a:blip r:embed="rId3"/>
          <a:stretch>
            <a:fillRect/>
          </a:stretch>
        </p:blipFill>
        <p:spPr>
          <a:xfrm>
            <a:off x="324595" y="1233057"/>
            <a:ext cx="11447458" cy="5209308"/>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152470" y="112960"/>
            <a:ext cx="12232036" cy="704017"/>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 for IBM </a:t>
            </a:r>
            <a:r>
              <a:rPr lang="en-US" sz="2800" b="1" dirty="0" smtClean="0">
                <a:solidFill>
                  <a:schemeClr val="dk1"/>
                </a:solidFill>
                <a:latin typeface="Calibri"/>
                <a:ea typeface="Calibri"/>
                <a:cs typeface="Calibri"/>
                <a:sym typeface="Calibri"/>
              </a:rPr>
              <a:t>bob for </a:t>
            </a:r>
            <a:r>
              <a:rPr lang="en-US" sz="2800" b="1" dirty="0"/>
              <a:t>Intelligent Crop Marketing Assistant</a:t>
            </a:r>
            <a:endParaRPr lang="en-US" sz="2400" dirty="0"/>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224" y="1094518"/>
            <a:ext cx="9547552" cy="525087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43892" y="1176309"/>
            <a:ext cx="9836726" cy="5074214"/>
          </a:xfrm>
          <a:prstGeom prst="rect">
            <a:avLst/>
          </a:prstGeom>
        </p:spPr>
      </p:pic>
      <p:sp>
        <p:nvSpPr>
          <p:cNvPr id="5" name="TextBox 4"/>
          <p:cNvSpPr txBox="1"/>
          <p:nvPr/>
        </p:nvSpPr>
        <p:spPr>
          <a:xfrm>
            <a:off x="1731818" y="623455"/>
            <a:ext cx="4764447" cy="400110"/>
          </a:xfrm>
          <a:prstGeom prst="rect">
            <a:avLst/>
          </a:prstGeom>
          <a:noFill/>
        </p:spPr>
        <p:txBody>
          <a:bodyPr wrap="square" rtlCol="0">
            <a:spAutoFit/>
          </a:bodyPr>
          <a:lstStyle/>
          <a:p>
            <a:r>
              <a:rPr lang="en-US" sz="2000" b="1" dirty="0" smtClean="0"/>
              <a:t>IBM CLOUD SERVICES USED</a:t>
            </a:r>
            <a:endParaRPr lang="en-US" sz="2000" b="1" dirty="0"/>
          </a:p>
        </p:txBody>
      </p:sp>
    </p:spTree>
    <p:extLst>
      <p:ext uri="{BB962C8B-B14F-4D97-AF65-F5344CB8AC3E}">
        <p14:creationId xmlns:p14="http://schemas.microsoft.com/office/powerpoint/2010/main" val="1145228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16451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1178289" y="840955"/>
            <a:ext cx="9890763" cy="6155531"/>
          </a:xfrm>
          <a:prstGeom prst="rect">
            <a:avLst/>
          </a:prstGeom>
          <a:noFill/>
        </p:spPr>
        <p:txBody>
          <a:bodyPr wrap="square" rtlCol="0">
            <a:spAutoFit/>
          </a:bodyPr>
          <a:lstStyle/>
          <a:p>
            <a:pPr algn="just"/>
            <a:r>
              <a:rPr lang="en-US" sz="2000" dirty="0" smtClean="0"/>
              <a:t>The </a:t>
            </a:r>
            <a:r>
              <a:rPr lang="en-US" sz="2000" dirty="0"/>
              <a:t>proposed </a:t>
            </a:r>
            <a:r>
              <a:rPr lang="en-US" sz="2000" dirty="0" err="1"/>
              <a:t>AgriMarket</a:t>
            </a:r>
            <a:r>
              <a:rPr lang="en-US" sz="2000" dirty="0"/>
              <a:t> AI combines Agentic AI, RAG, and real-time market intelligence to deliver smart, personalized crop marketing recommendations.</a:t>
            </a:r>
          </a:p>
          <a:p>
            <a:pPr algn="just"/>
            <a:r>
              <a:rPr lang="en-US" sz="2000" b="1" dirty="0"/>
              <a:t>Multi-Agent Intelligence </a:t>
            </a:r>
            <a:r>
              <a:rPr lang="en-US" sz="2000" dirty="0"/>
              <a:t>– Two AI agents collaborate to collect market data and generate optimal selling strategies.</a:t>
            </a:r>
          </a:p>
          <a:p>
            <a:pPr algn="just"/>
            <a:r>
              <a:rPr lang="en-US" sz="2000" b="1" dirty="0" smtClean="0"/>
              <a:t>RAG-Powered </a:t>
            </a:r>
            <a:r>
              <a:rPr lang="en-US" sz="2000" b="1" dirty="0"/>
              <a:t>Insights </a:t>
            </a:r>
            <a:r>
              <a:rPr lang="en-US" sz="2000" dirty="0"/>
              <a:t>– Retrieves real-time crop prices, demand trends, MSP, and government schemes from trusted sources. </a:t>
            </a:r>
          </a:p>
          <a:p>
            <a:pPr algn="just"/>
            <a:r>
              <a:rPr lang="en-US" sz="2000" b="1" dirty="0"/>
              <a:t>Personalized Recommendations </a:t>
            </a:r>
            <a:r>
              <a:rPr lang="en-US" sz="2000" dirty="0"/>
              <a:t>– Suggests the best market, selling time, and pricing strategy based on crop, location, and transportation costs. </a:t>
            </a:r>
          </a:p>
          <a:p>
            <a:pPr algn="just"/>
            <a:r>
              <a:rPr lang="en-US" sz="2000" b="1" dirty="0"/>
              <a:t>Explainable AI </a:t>
            </a:r>
            <a:r>
              <a:rPr lang="en-US" sz="2000" dirty="0"/>
              <a:t>– Provides transparent reasoning behind every recommendation to build farmer trust. </a:t>
            </a:r>
          </a:p>
          <a:p>
            <a:pPr algn="just"/>
            <a:r>
              <a:rPr lang="en-US" sz="2000" b="1" dirty="0"/>
              <a:t>Real-Time Decision Support </a:t>
            </a:r>
            <a:r>
              <a:rPr lang="en-US" sz="2000" dirty="0"/>
              <a:t>– Continuously updates recommendations as market conditions change. </a:t>
            </a:r>
          </a:p>
          <a:p>
            <a:pPr algn="just"/>
            <a:r>
              <a:rPr lang="en-US" sz="2000" b="1" dirty="0"/>
              <a:t>Interactive Dashboard </a:t>
            </a:r>
            <a:r>
              <a:rPr lang="en-US" sz="2000" dirty="0"/>
              <a:t>– Displays market comparisons, price trends, profit estimates, and AI insights through intuitive visualizations. </a:t>
            </a:r>
          </a:p>
          <a:p>
            <a:pPr algn="just"/>
            <a:r>
              <a:rPr lang="en-US" sz="2000" b="1" dirty="0"/>
              <a:t>Enterprise-Ready Solution </a:t>
            </a:r>
            <a:r>
              <a:rPr lang="en-US" sz="2000" dirty="0"/>
              <a:t>– Built on IBM Bob, IBM watsonx.ai, IBM Cloud, and Granite Models for scalability, reliability, and AI governance. </a:t>
            </a:r>
          </a:p>
          <a:p>
            <a:pPr algn="just"/>
            <a:r>
              <a:rPr lang="en-US" sz="2000" dirty="0" err="1"/>
              <a:t>AgriMarket</a:t>
            </a:r>
            <a:r>
              <a:rPr lang="en-US" sz="2000" dirty="0"/>
              <a:t> AI is more than a price lookup tool—it is an intelligent AI-powered crop marketing advisor that enables farmers to maximize profits through data-driven decisions</a:t>
            </a:r>
            <a:r>
              <a:rPr lang="en-US" sz="2000" dirty="0" smtClean="0"/>
              <a:t>.</a:t>
            </a:r>
            <a:endParaRPr lang="en-US" sz="2000" dirty="0"/>
          </a:p>
        </p:txBody>
      </p:sp>
    </p:spTree>
    <p:extLst>
      <p:ext uri="{BB962C8B-B14F-4D97-AF65-F5344CB8AC3E}">
        <p14:creationId xmlns:p14="http://schemas.microsoft.com/office/powerpoint/2010/main" val="9179641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7" name="TextBox 6">
            <a:extLst>
              <a:ext uri="{FF2B5EF4-FFF2-40B4-BE49-F238E27FC236}">
                <a16:creationId xmlns="" xmlns:a16="http://schemas.microsoft.com/office/drawing/2014/main" id="{1810CD56-B441-0C05-CADF-4C9A7439C3CC}"/>
              </a:ext>
            </a:extLst>
          </p:cNvPr>
          <p:cNvSpPr txBox="1"/>
          <p:nvPr/>
        </p:nvSpPr>
        <p:spPr>
          <a:xfrm>
            <a:off x="1044988" y="1696488"/>
            <a:ext cx="6517100" cy="1569660"/>
          </a:xfrm>
          <a:prstGeom prst="rect">
            <a:avLst/>
          </a:prstGeom>
          <a:noFill/>
        </p:spPr>
        <p:txBody>
          <a:bodyPr wrap="square" rtlCol="0">
            <a:spAutoFit/>
          </a:bodyPr>
          <a:lstStyle/>
          <a:p>
            <a:r>
              <a:rPr lang="en-IN" sz="2400" dirty="0" smtClean="0"/>
              <a:t>1. Generative AI in Action </a:t>
            </a:r>
            <a:r>
              <a:rPr lang="en-IN" sz="2400" dirty="0" err="1" smtClean="0"/>
              <a:t>Credly</a:t>
            </a:r>
            <a:r>
              <a:rPr lang="en-IN" sz="2400" dirty="0" smtClean="0"/>
              <a:t> Certificate</a:t>
            </a:r>
          </a:p>
          <a:p>
            <a:r>
              <a:rPr lang="en-IN" sz="2400" dirty="0" smtClean="0"/>
              <a:t>2. IBM BOB Certificate</a:t>
            </a:r>
          </a:p>
          <a:p>
            <a:r>
              <a:rPr lang="en-IN" sz="2400" dirty="0" smtClean="0"/>
              <a:t>3. PPT</a:t>
            </a:r>
          </a:p>
          <a:p>
            <a:r>
              <a:rPr lang="en-IN" sz="2400" dirty="0" smtClean="0"/>
              <a:t>4. Problem Statement</a:t>
            </a:r>
            <a:endParaRPr lang="en-IN" sz="2400" dirty="0"/>
          </a:p>
        </p:txBody>
      </p:sp>
      <p:sp>
        <p:nvSpPr>
          <p:cNvPr id="2" name="Rectangle 1"/>
          <p:cNvSpPr/>
          <p:nvPr/>
        </p:nvSpPr>
        <p:spPr>
          <a:xfrm>
            <a:off x="970295" y="1163820"/>
            <a:ext cx="7716982" cy="307777"/>
          </a:xfrm>
          <a:prstGeom prst="rect">
            <a:avLst/>
          </a:prstGeom>
        </p:spPr>
        <p:txBody>
          <a:bodyPr wrap="square">
            <a:spAutoFit/>
          </a:bodyPr>
          <a:lstStyle/>
          <a:p>
            <a:r>
              <a:rPr lang="en-US" dirty="0">
                <a:hlinkClick r:id="rId3"/>
              </a:rPr>
              <a:t>https://</a:t>
            </a:r>
            <a:r>
              <a:rPr lang="en-US" dirty="0" smtClean="0">
                <a:hlinkClick r:id="rId3"/>
              </a:rPr>
              <a:t>github.com/ramakrishna35ece-ctrl/Intelligent-Crop-Marketing-Assistant.git</a:t>
            </a:r>
            <a:r>
              <a:rPr lang="en-US" dirty="0" smtClean="0"/>
              <a:t> </a:t>
            </a:r>
            <a:endParaRPr lang="en-US" dirty="0"/>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1379621" y="1363579"/>
            <a:ext cx="9657347" cy="5539978"/>
          </a:xfrm>
          <a:prstGeom prst="rect">
            <a:avLst/>
          </a:prstGeom>
          <a:noFill/>
        </p:spPr>
        <p:txBody>
          <a:bodyPr wrap="square" rtlCol="0">
            <a:spAutoFit/>
          </a:bodyPr>
          <a:lstStyle/>
          <a:p>
            <a:r>
              <a:rPr lang="en-US" sz="2000" b="1" dirty="0"/>
              <a:t>AI Price Forecasting</a:t>
            </a:r>
            <a:r>
              <a:rPr lang="en-US" sz="2000" dirty="0"/>
              <a:t> – Predict future crop prices using historical data, weather, and demand trends. </a:t>
            </a:r>
          </a:p>
          <a:p>
            <a:r>
              <a:rPr lang="en-US" sz="2000" b="1" dirty="0" err="1"/>
              <a:t>IoT</a:t>
            </a:r>
            <a:r>
              <a:rPr lang="en-US" sz="2000" b="1" dirty="0"/>
              <a:t> Integration</a:t>
            </a:r>
            <a:r>
              <a:rPr lang="en-US" sz="2000" dirty="0"/>
              <a:t> – Use smart sensors for real-time farm, soil, and weather monitoring. </a:t>
            </a:r>
          </a:p>
          <a:p>
            <a:r>
              <a:rPr lang="en-US" sz="2000" b="1" dirty="0"/>
              <a:t>Multilingual Voice Support</a:t>
            </a:r>
            <a:r>
              <a:rPr lang="en-US" sz="2000" dirty="0"/>
              <a:t> – Enable voice-based assistance in regional languages for better accessibility. </a:t>
            </a:r>
          </a:p>
          <a:p>
            <a:r>
              <a:rPr lang="en-US" sz="2000" b="1" dirty="0" err="1"/>
              <a:t>Blockchain</a:t>
            </a:r>
            <a:r>
              <a:rPr lang="en-US" sz="2000" b="1" dirty="0"/>
              <a:t> Traceability</a:t>
            </a:r>
            <a:r>
              <a:rPr lang="en-US" sz="2000" dirty="0"/>
              <a:t> – Ensure transparent and secure farm-to-market supply chain tracking. </a:t>
            </a:r>
          </a:p>
          <a:p>
            <a:r>
              <a:rPr lang="en-US" sz="2000" b="1" dirty="0"/>
              <a:t>Direct Buyer Marketplace</a:t>
            </a:r>
            <a:r>
              <a:rPr lang="en-US" sz="2000" dirty="0"/>
              <a:t> – Connect farmers directly with buyers, retailers, and exporters. </a:t>
            </a:r>
          </a:p>
          <a:p>
            <a:r>
              <a:rPr lang="en-US" sz="2000" b="1" dirty="0"/>
              <a:t>Government Integration</a:t>
            </a:r>
            <a:r>
              <a:rPr lang="en-US" sz="2000" dirty="0"/>
              <a:t> – Provide real-time access to MSP, subsidies, crop insurance, and agricultural schemes. </a:t>
            </a:r>
          </a:p>
          <a:p>
            <a:r>
              <a:rPr lang="en-US" sz="2000" b="1" dirty="0"/>
              <a:t>Scalable AI Platform</a:t>
            </a:r>
            <a:r>
              <a:rPr lang="en-US" sz="2000" dirty="0"/>
              <a:t> – Expand to support multiple crops, regions, and international markets using IBM Cloud. </a:t>
            </a:r>
          </a:p>
          <a:p>
            <a:r>
              <a:rPr lang="en-US" sz="2000" b="1" dirty="0"/>
              <a:t>Future Vision:</a:t>
            </a:r>
            <a:r>
              <a:rPr lang="en-US" sz="2000" dirty="0"/>
              <a:t> Transform </a:t>
            </a:r>
            <a:r>
              <a:rPr lang="en-US" sz="2000" b="1" dirty="0" err="1"/>
              <a:t>AgriMarket</a:t>
            </a:r>
            <a:r>
              <a:rPr lang="en-US" sz="2000" b="1" dirty="0"/>
              <a:t> AI</a:t>
            </a:r>
            <a:r>
              <a:rPr lang="en-US" sz="2000" dirty="0"/>
              <a:t> into a </a:t>
            </a:r>
            <a:r>
              <a:rPr lang="en-US" sz="2000" b="1" dirty="0"/>
              <a:t>comprehensive AI-powered digital agriculture platform</a:t>
            </a:r>
            <a:r>
              <a:rPr lang="en-US" sz="2000" dirty="0"/>
              <a:t> that empowers farmers with predictive insights, intelligent decision-making, and sustainable, profitable farming.</a:t>
            </a:r>
          </a:p>
          <a:p>
            <a:endParaRPr lang="en-US" dirty="0"/>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a:t>
            </a:r>
            <a:r>
              <a:rPr lang="en-US" sz="2400" b="1" dirty="0" smtClean="0"/>
              <a:t>Earned:1</a:t>
            </a:r>
            <a:endParaRPr lang="en-US" sz="2400" b="1" dirty="0"/>
          </a:p>
          <a:p>
            <a:pPr algn="ctr"/>
            <a:endParaRPr lang="en-US" dirty="0"/>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99496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r>
              <a:rPr lang="en-US" sz="2800" b="1" dirty="0" smtClean="0"/>
              <a:t>Generative AI in Action </a:t>
            </a:r>
            <a:r>
              <a:rPr lang="en-US" sz="2800" b="1" dirty="0"/>
              <a:t>certificate </a:t>
            </a:r>
          </a:p>
        </p:txBody>
      </p:sp>
      <p:pic>
        <p:nvPicPr>
          <p:cNvPr id="5" name="Picture 4"/>
          <p:cNvPicPr>
            <a:picLocks noChangeAspect="1"/>
          </p:cNvPicPr>
          <p:nvPr/>
        </p:nvPicPr>
        <p:blipFill>
          <a:blip r:embed="rId2"/>
          <a:stretch>
            <a:fillRect/>
          </a:stretch>
        </p:blipFill>
        <p:spPr>
          <a:xfrm>
            <a:off x="1108361" y="1279420"/>
            <a:ext cx="8866910" cy="530242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smtClean="0">
                <a:solidFill>
                  <a:srgbClr val="000000"/>
                </a:solidFill>
                <a:latin typeface="Arial"/>
                <a:ea typeface="Arial"/>
                <a:cs typeface="Arial"/>
              </a:rPr>
              <a:t>​</a:t>
            </a:r>
            <a:r>
              <a:rPr lang="en-US" sz="2400" b="0" i="0" dirty="0" smtClean="0">
                <a:solidFill>
                  <a:srgbClr val="000000"/>
                </a:solidFill>
                <a:latin typeface="Arial"/>
                <a:ea typeface="Arial"/>
                <a:cs typeface="Arial"/>
              </a:rPr>
              <a:t>2</a:t>
            </a:r>
            <a:endParaRPr lang="en-US" dirty="0"/>
          </a:p>
          <a:p>
            <a:pPr algn="ctr"/>
            <a:endParaRPr lang="en-US" dirty="0"/>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6"/>
          <p:cNvPicPr>
            <a:picLocks noChangeAspect="1"/>
          </p:cNvPicPr>
          <p:nvPr/>
        </p:nvPicPr>
        <p:blipFill>
          <a:blip r:embed="rId2"/>
          <a:stretch>
            <a:fillRect/>
          </a:stretch>
        </p:blipFill>
        <p:spPr>
          <a:xfrm>
            <a:off x="2171611" y="1477578"/>
            <a:ext cx="8202170" cy="502990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C2F9E3-E681-3E26-6140-9B420F57D653}"/>
              </a:ext>
            </a:extLst>
          </p:cNvPr>
          <p:cNvSpPr>
            <a:spLocks noGrp="1"/>
          </p:cNvSpPr>
          <p:nvPr>
            <p:ph type="title"/>
          </p:nvPr>
        </p:nvSpPr>
        <p:spPr>
          <a:xfrm>
            <a:off x="923290" y="932118"/>
            <a:ext cx="10515600" cy="722566"/>
          </a:xfrm>
        </p:spPr>
        <p:txBody>
          <a:bodyPr>
            <a:normAutofit fontScale="90000"/>
          </a:bodyPr>
          <a:lstStyle/>
          <a:p>
            <a:r>
              <a:rPr lang="en-US" dirty="0"/>
              <a:t>IBM SKILLS BUILD PROFILE</a:t>
            </a:r>
            <a:endParaRPr lang="en-IN" dirty="0"/>
          </a:p>
        </p:txBody>
      </p:sp>
      <p:pic>
        <p:nvPicPr>
          <p:cNvPr id="4" name="Picture 3"/>
          <p:cNvPicPr>
            <a:picLocks noChangeAspect="1"/>
          </p:cNvPicPr>
          <p:nvPr/>
        </p:nvPicPr>
        <p:blipFill>
          <a:blip r:embed="rId2"/>
          <a:stretch>
            <a:fillRect/>
          </a:stretch>
        </p:blipFill>
        <p:spPr>
          <a:xfrm>
            <a:off x="1690072" y="1654683"/>
            <a:ext cx="8811855" cy="4413607"/>
          </a:xfrm>
          <a:prstGeom prst="rect">
            <a:avLst/>
          </a:prstGeom>
        </p:spPr>
      </p:pic>
    </p:spTree>
    <p:extLst>
      <p:ext uri="{BB962C8B-B14F-4D97-AF65-F5344CB8AC3E}">
        <p14:creationId xmlns:p14="http://schemas.microsoft.com/office/powerpoint/2010/main" val="166958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806</TotalTime>
  <Words>957</Words>
  <Application>Microsoft Office PowerPoint</Application>
  <PresentationFormat>Widescreen</PresentationFormat>
  <Paragraphs>114</Paragraphs>
  <Slides>20</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SKILLS BUILD PROFILE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l</cp:lastModifiedBy>
  <cp:revision>40</cp:revision>
  <dcterms:created xsi:type="dcterms:W3CDTF">2025-07-08T05:06:56Z</dcterms:created>
  <dcterms:modified xsi:type="dcterms:W3CDTF">2026-07-04T05:28:32Z</dcterms:modified>
</cp:coreProperties>
</file>